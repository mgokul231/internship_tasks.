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34155"/>
                </a:solidFill>
                <a:latin typeface="Arial"/>
              </a:rPr>
              <a:t>Discount Level vs Avg Profit / Order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2D-4532-8D4D-D5B0F56ED29E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2D-4532-8D4D-D5B0F56ED29E}"/>
              </c:ext>
            </c:extLst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2D-4532-8D4D-D5B0F56ED29E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2D-4532-8D4D-D5B0F56ED2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(0–20%)</c:v>
                </c:pt>
                <c:pt idx="2">
                  <c:v>Mid (20–40%)</c:v>
                </c:pt>
                <c:pt idx="3">
                  <c:v>High (40–80%)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66.900000000000006</c:v>
                </c:pt>
                <c:pt idx="1">
                  <c:v>26.5</c:v>
                </c:pt>
                <c:pt idx="2">
                  <c:v>-77.86</c:v>
                </c:pt>
                <c:pt idx="3">
                  <c:v>-106.71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2D-4532-8D4D-D5B0F56ED2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334155"/>
                </a:solidFill>
                <a:latin typeface="Arial"/>
              </a:rPr>
              <a:t>Category Profit Margin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17-485A-A72E-749330E48A8B}"/>
              </c:ext>
            </c:extLst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17-485A-A72E-749330E48A8B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17-485A-A72E-749330E48A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17.399999999999999</c:v>
                </c:pt>
                <c:pt idx="1">
                  <c:v>17</c:v>
                </c:pt>
                <c:pt idx="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17-485A-A72E-749330E48A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65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645920" cy="1645920"/>
          </a:xfrm>
          <a:prstGeom prst="ellipse">
            <a:avLst/>
          </a:prstGeom>
          <a:solidFill>
            <a:schemeClr val="bg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74320"/>
            <a:ext cx="1097280" cy="1097280"/>
          </a:xfrm>
          <a:prstGeom prst="ellipse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389120"/>
            <a:ext cx="85039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 ·  Category Profitability  ·  Regional Performance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Superstore 2014–2017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Hypothesis Tests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97180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999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M  |  ApexPlanet Internship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&amp; DESCRIPTIVE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Profit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Discounts have no significant effect on profit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Independent T-Test  (no discount vs high discount)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 avg:  $66.90 /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avg:  −$106.71 /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$173.61 per order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960120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0972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67912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Profit Zone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91840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Category type is independent of profit outcome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91840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Chi-Squared Contingency Test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91840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margin:  17.4%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margin:  2.5%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margin:  17.0%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96012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96012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1097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67144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 Profit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1673352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178308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91072" y="1984248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 in avg profit between Tech &amp; Furniture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253288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91072" y="2734056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Independent T-Test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264408"/>
            <a:ext cx="261518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355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91072" y="3557016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avg:  $78.4 /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avg:  $8.5 /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 $69.9 per order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CONFIDENCE INTERVALS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8686800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VERDICT — All 3 null hypotheses REJECTED  |  99.99%+ confidence  |  p &lt; 0.0001 for every test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389888"/>
          <a:ext cx="8686800" cy="2679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CONFIDENCE INTERVAL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14.83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[$148.4, $198.8] profit advantage for no-discount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 &gt;20% cause avg losses of $77–$107/order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vs Profit Zone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239.8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(df =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explains a highly significant portion of profit outcome variance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type non-randomly and significantly drives profitability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vs Furniture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8.72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[$53.8, $86.0] profit-per-order advantage for Technology over Furniture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earns $78.4 vs $8.5 avg/order — proven at 99.99% confidence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 |  All tests: scipy.stats  |  Confidence intervals: 95% two-tailed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BUSINESS INTERPRETATION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822960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09160" y="822960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3401568"/>
            <a:ext cx="8686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3401568"/>
            <a:ext cx="8686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52044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cause average losses of $77–$107 per order — capping at 20% recovers $45,000+ in annual profit (p &lt; 0.0001, 95% CI: $148–$199).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only 2.5% profit margin vs Technology's 17.4% — the Tables sub-category alone lost $17,725 over 4 years and must be repriced or discontinued.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Office Supplies both deliver ~17% margins and should be prioritised in procurement, promotions, and sales targets to maximise overall profitability.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https://github.com/mgokul231/Internship_Tasks.|  ApexPlanet 60-Day Data Analytics Internship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484</Words>
  <Application>Microsoft Office PowerPoint</Application>
  <PresentationFormat>On-screen Show (16:9)</PresentationFormat>
  <Paragraphs>88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 Summary</dc:title>
  <dc:subject>PptxGenJS Presentation</dc:subject>
  <dc:creator>PptxGenJS</dc:creator>
  <cp:lastModifiedBy>DELL</cp:lastModifiedBy>
  <cp:revision>3</cp:revision>
  <dcterms:created xsi:type="dcterms:W3CDTF">2026-03-21T13:04:41Z</dcterms:created>
  <dcterms:modified xsi:type="dcterms:W3CDTF">2026-05-05T14:12:54Z</dcterms:modified>
</cp:coreProperties>
</file>