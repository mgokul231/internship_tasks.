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5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470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1A-4877-9D71-BF156F175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</c:v>
                </c:pt>
                <c:pt idx="1">
                  <c:v>61</c:v>
                </c:pt>
                <c:pt idx="2">
                  <c:v>81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1A-4877-9D71-BF156F175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7310976"/>
        <c:axId val="227341440"/>
      </c:barChart>
      <c:catAx>
        <c:axId val="227310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27341440"/>
        <c:crosses val="autoZero"/>
        <c:auto val="1"/>
        <c:lblAlgn val="ctr"/>
        <c:lblOffset val="100"/>
        <c:noMultiLvlLbl val="1"/>
      </c:catAx>
      <c:valAx>
        <c:axId val="22734144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2731097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</c:v>
                </c:pt>
                <c:pt idx="1">
                  <c:v>719</c:v>
                </c:pt>
                <c:pt idx="2">
                  <c:v>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73-43CE-9E81-97B95CA229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</c:v>
                </c:pt>
                <c:pt idx="1">
                  <c:v>122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73-43CE-9E81-97B95CA229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5304576"/>
        <c:axId val="145314560"/>
      </c:barChart>
      <c:catAx>
        <c:axId val="145304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45314560"/>
        <c:crosses val="autoZero"/>
        <c:auto val="1"/>
        <c:lblAlgn val="ctr"/>
        <c:lblOffset val="100"/>
        <c:noMultiLvlLbl val="1"/>
      </c:catAx>
      <c:valAx>
        <c:axId val="14531456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4530457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8A6-49A9-B97B-8A9CB0C5A87A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8A6-49A9-B97B-8A9CB0C5A87A}"/>
              </c:ext>
            </c:extLst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8A6-49A9-B97B-8A9CB0C5A87A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8A6-49A9-B97B-8A9CB0C5A87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(0–20%)</c:v>
                </c:pt>
                <c:pt idx="2">
                  <c:v>Mid (20–40%)</c:v>
                </c:pt>
                <c:pt idx="3">
                  <c:v>High (40–80%)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66.900000000000006</c:v>
                </c:pt>
                <c:pt idx="1">
                  <c:v>26.5</c:v>
                </c:pt>
                <c:pt idx="2">
                  <c:v>-77.86</c:v>
                </c:pt>
                <c:pt idx="3">
                  <c:v>-106.71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8A6-49A9-B97B-8A9CB0C5A8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082496"/>
        <c:axId val="129084032"/>
      </c:barChart>
      <c:catAx>
        <c:axId val="129082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084032"/>
        <c:crosses val="autoZero"/>
        <c:auto val="1"/>
        <c:lblAlgn val="ctr"/>
        <c:lblOffset val="100"/>
        <c:noMultiLvlLbl val="1"/>
      </c:catAx>
      <c:valAx>
        <c:axId val="12908403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08249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</c:v>
                </c:pt>
                <c:pt idx="1">
                  <c:v>92</c:v>
                </c:pt>
                <c:pt idx="2">
                  <c:v>47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30-4DC7-9963-197F5514E4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14.9</c:v>
                </c:pt>
                <c:pt idx="1">
                  <c:v>13.5</c:v>
                </c:pt>
                <c:pt idx="2">
                  <c:v>11.9</c:v>
                </c:pt>
                <c:pt idx="3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30-4DC7-9963-197F5514E4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198720"/>
        <c:axId val="129216896"/>
      </c:barChart>
      <c:catAx>
        <c:axId val="129198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216896"/>
        <c:crosses val="autoZero"/>
        <c:auto val="1"/>
        <c:lblAlgn val="ctr"/>
        <c:lblOffset val="100"/>
        <c:noMultiLvlLbl val="1"/>
      </c:catAx>
      <c:valAx>
        <c:axId val="12921689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198720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84D45-0131-46AE-BF46-7011457815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C0ABC-D088-4EEC-A922-7D5F3BE7D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98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"/>
            <a:ext cx="1188720" cy="118872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2560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" y="914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4592" y="26974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" y="3611880"/>
            <a:ext cx="315468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03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 |  USA  |  3 Categories  |  4 Regions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96012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77640" y="96012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97764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96012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96012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288036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77640" y="288036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977640" y="3977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88036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288036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583680" y="3977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38728" y="4736592"/>
            <a:ext cx="5605272" cy="40690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4736592"/>
            <a:ext cx="5605272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—  ApexPlanet 60-Day Data Analytics Internship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profitability in the Superstore — and where is value being destroyed?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25880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49047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087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" y="1463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Dilemma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heavy discounts killing margins despite driving volume?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64008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49047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087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463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Imbalance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drives sales but barely generates any profit.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081528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081528"/>
            <a:ext cx="64008" cy="1536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24612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2644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3272" y="32186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" y="36301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consistently underperforms vs West &amp; East.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81528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81528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46120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644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32186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Efficiency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36301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from 2014–2017 — but profit growth tells a different story.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—  CONSISTENT REVENUE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over 4 years — profit margin improved from 10.2% to 12.7%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32588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583680" y="18288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2014→2017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242316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423160"/>
            <a:ext cx="23042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51460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83680" y="301752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2014→2017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83680" y="361188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611880"/>
            <a:ext cx="230428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70332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$733K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583680" y="420624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Takeaway: Superstore is on a healthy growth. Both top-line and bottom-line are improving YoY.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—  FURNITURE: THE HIDDEN LIABILITY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generates 32% of total sales but only 6.4% of total profit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307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93408" y="16184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$836K  |  Profit: $145K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93408" y="1874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17.4%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242316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423160"/>
            <a:ext cx="64008" cy="10241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2496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93408" y="280720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$719K  |  Profit: $122K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693408" y="30632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17.0%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361188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3611880"/>
            <a:ext cx="64008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3685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93408" y="399592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$742K  |  Profit: $18K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93408" y="42519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2.5%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Action Required: Tables sub-category alone lost $17,725. Furniture discounting policy must be urgently reviewed.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—  DISCOUNTS DESTROY PROFITABILITY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discounts above 20% generate negative profit on average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2893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93408" y="15270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$66.90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0" y="2121408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21408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21762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(0–20%)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93408" y="241401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$26.50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3008376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008376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30632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(20–40%)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93408" y="330098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−$77.86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3895344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3895344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95020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(40–80%)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93408" y="41879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−$106.71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Rule: Cap all discounts at 20%. A strict policy could recover an estimated $45,000+ in annual profit.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 —  REGIONAL PERFORMANCE GAP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generate 69% of total profit — Central is significantly underperforming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2893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 West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93408" y="163677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$108K   Margin: 14.9%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2121408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21408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2176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 East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93408" y="252374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$92K   Margin: 13.5%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83680" y="3008376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00837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 South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93408" y="341071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$47K   Margin: 11.9%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0" y="3895344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3895344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9502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 Central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93408" y="429768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$40K   Margin: 7.9%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Central sits at 7.9% margin vs West's 14.9% — nearly half the profitability on similar revenue.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 —  HYPOTHESIS TESTING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business findings with rigorous statistical tests  (α = 0.05)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8631936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3 null hypotheses REJECTED  |  p &lt; 0.0001 in every test  |  99.99%+ confidence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1810512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810512"/>
            <a:ext cx="73152" cy="9052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20240"/>
            <a:ext cx="8046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98448" y="1901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2128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Discounts have no significant effect on profit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24323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significantly reduce profit margins. High-discount orders lose $106.71 avg vs $66.90 gain with no discount.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577840" y="1920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956816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956816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2834640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834640"/>
            <a:ext cx="73152" cy="9052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44368"/>
            <a:ext cx="80467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4436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TEST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98448" y="2926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Profit Zone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3236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Category type is independent of profit outcome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34564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type non-randomly and significantly drives profitability (χ² = 239.8, df = 2).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77840" y="2944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06640" y="2980944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980944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3858768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858768"/>
            <a:ext cx="73152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968496"/>
            <a:ext cx="8046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6849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98448" y="39502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98448" y="4261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 in avg profit between Tech &amp; Furniture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98448" y="44805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earns $78.4 avg profit/order vs only $8.5 for Furniture — proven at 99.99% confidence.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577840" y="39684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06640" y="4005072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4005072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OPPORTUNITY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clear actions to save $90,000+ in profit every year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98448"/>
            <a:ext cx="279806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1389888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to 20%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$45,000+ / year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discounts are losing us money — up to $107 on each order. Capping at 20% saves $45,000+ every year.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98448"/>
            <a:ext cx="279806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138988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848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Selling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$17,725 / year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55848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lost $17,725 over 4 years. Stopping sales or repricing will turn this loss into profit immediately.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298448"/>
            <a:ext cx="279806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389888"/>
            <a:ext cx="713232" cy="7132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18504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45936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45936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$30,000+ potential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8504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earns 7.9% vs West's 14.9% on similar revenue. Better training can double Central's profits quickly.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Combined Opportunity: $90,000+ in extra profit we can recover every year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action plan to drive profitability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7980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2029968"/>
            <a:ext cx="438912" cy="438912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20% discount ceiling across all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218688"/>
            <a:ext cx="438912" cy="438912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9264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Tables sub-category for pricing 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1298448"/>
            <a:ext cx="27980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18688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1568" y="2029968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promotions in West &amp; East regions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3218688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reprice Bookcase SKUs with negative margin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298448"/>
            <a:ext cx="27980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1344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64224" y="2029968"/>
            <a:ext cx="438912" cy="43891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94576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Central region sales capability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64224" y="3218688"/>
            <a:ext cx="438912" cy="43891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94576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pricing model tied to margin thresholds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 —  Data Storytelling &amp; Statistical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304288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(2014–2017)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(p &lt; 0.001)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Recovery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Identified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https://github.com/mgokul231/Internship_Tasks.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827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— Data Storytelling &amp; Statistical Validation</dc:title>
  <dc:subject>PptxGenJS Presentation</dc:subject>
  <dc:creator>PptxGenJS</dc:creator>
  <cp:lastModifiedBy>DELL</cp:lastModifiedBy>
  <cp:revision>3</cp:revision>
  <dcterms:created xsi:type="dcterms:W3CDTF">2026-03-21T13:13:25Z</dcterms:created>
  <dcterms:modified xsi:type="dcterms:W3CDTF">2026-05-05T14:18:14Z</dcterms:modified>
</cp:coreProperties>
</file>